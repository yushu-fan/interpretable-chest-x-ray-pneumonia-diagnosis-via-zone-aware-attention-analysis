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封面：研究计划标题页。</a:t>
            </a:r>
          </a:p>
          <a:p>
            <a:r>
              <a:t>主题：基于深度学习的 X 光胸片肺炎分类研究。</a:t>
            </a:r>
          </a:p>
          <a:p>
            <a:r>
              <a:t>学校：莫斯科国立大学。</a:t>
            </a:r>
          </a:p>
          <a:p>
            <a:r>
              <a:t>导师：В.Ю. Романов。</a:t>
            </a:r>
          </a:p>
          <a:p>
            <a:r>
              <a:t>日期：2026年5月。</a:t>
            </a:r>
          </a:p>
          <a:p/>
          <a:p>
            <a:r>
              <a:t>这是课程论文（курсовая работа）研究计划，非学位论文开题。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目录幻灯片，列出报告各章节。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说明：为什么选择这个题目？肺炎诊断的临床需求 + AI 辅助诊断的价值 + 可解释性的重要性。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左栏：总体研究目标——开发深度学习模型进行胸片二分类，并集成 Grad-CAM 可解释性。</a:t>
            </a:r>
          </a:p>
          <a:p>
            <a:r>
              <a:t>右栏：6 项具体任务，从文献综述到论文撰写的完整流程。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数据集介绍：来源、大小、分类、预处理方式、划分策略。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基线模型架构：ResNet-18 + 迁移学习 + 标准训练配置。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Grad-CAM 方法说明：原理（基于梯度的特征图加权）、作用（热力图可视化）、临床价值（提升医生信任）。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可选改进方向：CBAM 注意力模块、Focal Loss（解决类别不平衡）、MixUp/CutMix 数据增强。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左栏：5 个主要评估指标。右栏：可视化评估——Grad-CAM 热力图是否与临床特征相符，对比医生标注。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预期成果列表：性能目标、可视化验证、模型对比、论文产出、可选参赛。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三阶段甘特图：</a:t>
            </a:r>
          </a:p>
          <a:p>
            <a:r>
              <a:t>阶段一（周 1-3）：文献综述 + 数据准备 + ResNet-18 基线 + Grad-CAM + 初步评估</a:t>
            </a:r>
          </a:p>
          <a:p>
            <a:r>
              <a:t>阶段二（周 3-6）：集成 CBAM / Focal Loss + 超参数调优 + 模型对比实验</a:t>
            </a:r>
          </a:p>
          <a:p>
            <a:r>
              <a:t>阶段三（周 6-10）：最终训练与评估 + 课程论文撰写 + PPT 准备 + 可选参赛</a:t>
            </a:r>
          </a:p>
          <a:p>
            <a:r>
              <a:t>总周期：约 7-10 周（2-2.5 个月）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说明研究的临床实用价值：辅助诊断、加快初筛、可解释性、多任务迁移、学术产出。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致谢页。感谢导师和听众。说明这是课程论文研究计划。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Применение глубокого обучения для классификации</a:t>
            </a:r>
            <a:br/>
            <a:r>
              <a:t>пневмонии на рентгеновских снимках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CCCC"/>
                </a:solidFill>
                <a:latin typeface="Arial"/>
              </a:defRPr>
            </a:pPr>
            <a:r>
              <a:t>Исследовательский план / 研究计划  |  МГУ,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Содержание / 内容大纲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Актуальность темы / 选题背景与意义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Цель и задачи / 研究目标与任务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Объект исследования / 研究对象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Методология / 研究方法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Ожидаемые результаты / 预期成果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Календарный план / 时间计划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Практическая значимость / 实用价值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Актуальность / 选题背景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Пневмония — одна из ведущих причин смертности от инфекционных заболеваний в мире</a:t>
            </a:r>
            <a:br/>
            <a:r>
              <a:t>肺炎是全球传染病死亡的主要原因之一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Рентгенография грудной клетки (CXR) — основной метод первичной диагностики пневмонии</a:t>
            </a:r>
            <a:br/>
            <a:r>
              <a:t>X 光胸片是肺炎初诊的主要手段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Интерпретация CXR требует опыта; межэкспертная вариабельность достигает 20–30%</a:t>
            </a:r>
            <a:br/>
            <a:r>
              <a:t>阅片依赖经验，不同医生之间差异可达 20–30%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ИИ на основе CNN способен автоматизировать первичный скрининг с высокой точностью</a:t>
            </a:r>
            <a:br/>
            <a:r>
              <a:t>基于 CNN 的 AI 可自动化初筛并达到高精度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Методы визуализации (Grad-CAM) обеспечивают интерпретируемость для врачей</a:t>
            </a:r>
            <a:br/>
            <a:r>
              <a:t>Grad-CAM 等可视化方法确保 AI 决策对医生可解释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Цель и задачи / 研究目标与任务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  <a:latin typeface="Arial"/>
              </a:defRPr>
            </a:pPr>
            <a:r>
              <a:t>Цель / 研究目标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Разработка модели глубокого обучения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для бинарной классификации CXR: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Normal / Pneumonia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с использованием методов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визуализации Grad-CAM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для обеспечения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интерпретируемости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  <a:latin typeface="Arial"/>
              </a:defRPr>
            </a:pPr>
            <a:r>
              <a:t>Задачи / 研究任务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1. Обзор литературы / 文献综述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2. Подготовка данных ChestXRay2017 / 数据准备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3. Реализация ResNet-18 baseline / 基线模型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4. Внедрение Grad-CAM / 可视化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5. Эксперименты и оценка / 实验评估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6. Оформление курсовой работы / 论文撰写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Объект исследования: набор данных / 研究对象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ChestXRay2017 (Kermany et al., Cell, 2018) — открытый набор данных на Kaggle</a:t>
            </a:r>
            <a:br/>
            <a:r>
              <a:t>ChestXRay2017（Kermany 等，Cell，2018），Kaggle 公开数据集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5 856 рентгеновских снимков: Normal, Bacterial Pneumonia, Viral Pneumonia</a:t>
            </a:r>
            <a:br/>
            <a:r>
              <a:t>共 5856 张胸片：正常、细菌性肺炎、病毒性肺炎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Для бинарной классификации классы пневмонии объединяются</a:t>
            </a:r>
            <a:br/>
            <a:r>
              <a:t>二分类时将两类肺炎合并为一个类别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Предобработка: нормализация, resize → 224×224 px</a:t>
            </a:r>
            <a:br/>
            <a:r>
              <a:t>预处理：归一化，缩放至 224×224 像素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Разделение: 80% обучение / 20% тест (стратифицированное)</a:t>
            </a:r>
            <a:br/>
            <a:r>
              <a:t>划分：80% 训练 / 20% 测试（分层采样）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Методология: Baseline — ResNet-18 / 方法：基线模型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Архитектура: ResNet-18, предобученная на ImageNet</a:t>
            </a:r>
            <a:br/>
            <a:r>
              <a:t>架构：ResNet-18，ImageNet 预训练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Transfer Learning: заморозка первых слоёв + замена FC-слоя</a:t>
            </a:r>
            <a:br/>
            <a:r>
              <a:t>迁移学习：冻结前层 + 替换全连接层为二分类输出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Оптимизатор: Adam (lr = 0.001) / 优化器：Adam（lr=0.001）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Функция потерь: Cross Entropy Loss / 损失函数：交叉熵损失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Аугментация данных: случайный flip, rotate, brightness</a:t>
            </a:r>
            <a:br/>
            <a:r>
              <a:t>数据增强：随机翻转、旋转、亮度调整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Платформа: Python + PyTorch / 平台：Python + PyTorch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Методология: Grad-CAM / 方法：可解释性可视化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Grad-CAM (Gradient-weighted Class Activation Mapping, Selvaraju et al., 2017)</a:t>
            </a:r>
            <a:br/>
            <a:r>
              <a:t>Grad-CAM（梯度加权类激活映射，Selvaraju 等，2017）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Вычисляет градиенты выходного класса по признаковым картам последнего conv-слоя</a:t>
            </a:r>
            <a:br/>
            <a:r>
              <a:t>计算输出类别对最后一层卷积特征图的梯度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Генерирует heatmap, показывающий области, важные для предсказания</a:t>
            </a:r>
            <a:br/>
            <a:r>
              <a:t>生成热力图，展示对预测最重要的区域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Heatmap накладывается на исходный CXR для визуальной интерпретации</a:t>
            </a:r>
            <a:br/>
            <a:r>
              <a:t>热力图叠加在原始胸片上，便于直观解读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Повышает доверие врачей к модели / 提升医生对模型的信任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Методология: улучшения (опционально) / 方法：改进方案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CBAM (Convolutional Block Attention Module, Woo et al., 2018)</a:t>
            </a:r>
            <a:br/>
            <a:r>
              <a:t>CBAM（卷积块注意力模块）— 通过通道+空间注意力增强特征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Focal Loss (Lin et al., 2017) для решения проблемы дисбаланса классов</a:t>
            </a:r>
            <a:br/>
            <a:r>
              <a:t>Focal Loss — 应对类别不平衡问题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Аугментация MixUp / CutMix для повышения обобщающей способности</a:t>
            </a:r>
            <a:br/>
            <a:r>
              <a:t>MixUp / CutMix 数据增强 — 提升模型泛化能力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Сравнительный анализ: Baseline vs. Baseline + CBAM vs. Baseline + Focal Loss</a:t>
            </a:r>
            <a:br/>
            <a:r>
              <a:t>对比实验：基线 vs. +CBAM vs. +Focal Loss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Методы оценки / 评估方法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  <a:latin typeface="Arial"/>
              </a:defRPr>
            </a:pPr>
            <a:r>
              <a:t>Основные метрики / 主要指标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Accuracy — доля правильных предсказаний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AUC-ROC — площадь под ROC-кривой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Precision — точность положительного класса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Recall (Sensitivity) — полнота / 灵敏度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F1-score — гармоническое среднее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75B6"/>
                </a:solidFill>
                <a:latin typeface="Arial"/>
              </a:defRPr>
            </a:pPr>
            <a:r>
              <a:t>Визуальная оценка / 可视化评估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Grad-CAM heatmaps: локализация</a:t>
            </a:r>
            <a:br/>
            <a:r>
              <a:t>областей, соответствующих пневмонии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Сравнение с аннотациями врачей</a:t>
            </a:r>
          </a:p>
          <a:p>
            <a:pPr>
              <a:spcBef>
                <a:spcPts val="800"/>
              </a:spcBef>
              <a:defRPr sz="1700">
                <a:solidFill>
                  <a:srgbClr val="000000"/>
                </a:solidFill>
                <a:latin typeface="Arial"/>
              </a:defRPr>
            </a:pPr>
            <a:r>
              <a:t>•  Анализ ложноположительных</a:t>
            </a:r>
            <a:br/>
            <a:r>
              <a:t>и ложноотрицательных случаев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Ожидаемые результаты / 预期成果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Accuracy ≥ 90% на тестовой выборке / 测试集准确率 ≥ 90%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Grad-CAM визуализации, демонстрирующие фокус модели на клинически значимых областях</a:t>
            </a:r>
            <a:br/>
            <a:r>
              <a:t>Grad-CAM 热力图，验证模型关注区域与临床特征一致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Сравнительный анализ Baseline / Baseline+CBAM / Baseline+Focal Loss</a:t>
            </a:r>
            <a:br/>
            <a:r>
              <a:t>基线模型与改进模型的对比分析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Курсовая работа, оформленная по стандартам МГУ</a:t>
            </a:r>
            <a:br/>
            <a:r>
              <a:t>符合 МГУ 标准的课程论文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Возможное участие в соревнованиях (MICCAI Challenges / 全国医保影像 AI 大赛)</a:t>
            </a:r>
            <a:br/>
            <a:r>
              <a:t>可参加相关竞赛（MICCAI / 全国医保影像 AI 识图大赛）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Календарный план исследования / 研究时间计划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4040"/>
                </a:solidFill>
                <a:latin typeface="Arial"/>
              </a:defRPr>
            </a:pPr>
            <a:r>
              <a:t>Этап / 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50876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Arial"/>
              </a:defRPr>
            </a:pPr>
            <a:r>
              <a:t>Неделя / 周数：1        2        3        4        5        6        7        8        9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97D"/>
                </a:solidFill>
                <a:latin typeface="Arial"/>
              </a:defRPr>
            </a:pPr>
            <a:r>
              <a:t>Этап 1 / 阶段一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  <a:latin typeface="Arial"/>
              </a:defRPr>
            </a:pPr>
            <a:r>
              <a:t>Baseline + Grad-CAM / 基线模型与 Grad-CAM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74520"/>
            <a:ext cx="26060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97D"/>
                </a:solidFill>
                <a:latin typeface="Arial"/>
              </a:defRPr>
            </a:pPr>
            <a:r>
              <a:t>Этап 2 / 阶段二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  <a:latin typeface="Arial"/>
              </a:defRPr>
            </a:pPr>
            <a:r>
              <a:t>CBAM / Focal Loss / 模型改进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697480"/>
            <a:ext cx="260604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97D"/>
                </a:solidFill>
                <a:latin typeface="Arial"/>
              </a:defRPr>
            </a:pPr>
            <a:r>
              <a:t>Этап 3 / 阶段三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3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  <a:latin typeface="Arial"/>
              </a:defRPr>
            </a:pPr>
            <a:r>
              <a:t>Оформление / 论文撰写与 PPT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3520440"/>
            <a:ext cx="260604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297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  <a:latin typeface="Arial"/>
              </a:defRPr>
            </a:pPr>
            <a:r>
              <a:t>Общая продолжительность: 7–10 недель / 总周期：约 7–10 周（2–2.5 个月）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Практическая значимость / 实用价值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Вспомогательный инструмент для рентгенологов — снижение риска пропуска пневмонии</a:t>
            </a:r>
            <a:br/>
            <a:r>
              <a:t>作为放射科医生辅助工具，降低漏诊风险（提升 Recall）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Ускорение первичного скрининга, особенно в условиях дефицита врачей</a:t>
            </a:r>
            <a:br/>
            <a:r>
              <a:t>加快初筛速度，尤其在医疗资源不足的地区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Grad-CAM обеспечивает прозрачность решений ИИ для клинического принятия</a:t>
            </a:r>
            <a:br/>
            <a:r>
              <a:t>Grad-CAM 确保 AI 决策透明度，支持临床落地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Результаты применимы к смежным задачам медицинской визуализации</a:t>
            </a:r>
            <a:br/>
            <a:r>
              <a:t>研究方法可迁移至其他医学影像分类任务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•  Потенциал для участия в профильных соревнованиях и конференциях</a:t>
            </a:r>
            <a:br/>
            <a:r>
              <a:t>具备参加专业竞赛和学术会议的潜力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Благодарю за внимание!</a:t>
            </a:r>
            <a:br/>
            <a: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 sz="1800">
                <a:solidFill>
                  <a:srgbClr val="CCCCCC"/>
                </a:solidFill>
                <a:latin typeface="Arial"/>
              </a:defRPr>
            </a:pPr>
            <a:r>
              <a:t>Исследовательский план / 研究计划</a:t>
            </a:r>
          </a:p>
          <a:p>
            <a:pPr algn="ctr">
              <a:spcBef>
                <a:spcPts val="800"/>
              </a:spcBef>
              <a:defRPr sz="1800">
                <a:solidFill>
                  <a:srgbClr val="CCCCCC"/>
                </a:solidFill>
                <a:latin typeface="Arial"/>
              </a:defRPr>
            </a:pPr>
            <a:r>
              <a:t>МГУ | 2026</a:t>
            </a:r>
          </a:p>
          <a:p>
            <a:pPr algn="ctr">
              <a:spcBef>
                <a:spcPts val="800"/>
              </a:spcBef>
              <a:defRPr sz="1800">
                <a:solidFill>
                  <a:srgbClr val="CCCCCC"/>
                </a:solidFill>
                <a:latin typeface="Arial"/>
              </a:defRPr>
            </a:pPr>
          </a:p>
          <a:p>
            <a:pPr algn="ctr">
              <a:spcBef>
                <a:spcPts val="800"/>
              </a:spcBef>
              <a:defRPr sz="1800">
                <a:solidFill>
                  <a:srgbClr val="CCCCCC"/>
                </a:solidFill>
                <a:latin typeface="Arial"/>
              </a:defRPr>
            </a:pPr>
            <a:r>
              <a:t>Научный руководитель: В.Ю. Романов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